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1628"/>
                </a:solidFill>
                <a:latin typeface="Arial"/>
              </a:rPr>
              <a:t>AUC Progression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Score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Original RF
(no genomics)</c:v>
                  </c:pt>
                  <c:pt idx="1">
                    <c:v>RF +
lynch_any</c:v>
                  </c:pt>
                  <c:pt idx="2">
                    <c:v>Tuned RF
+ lynch_any</c:v>
                  </c:pt>
                  <c:pt idx="3">
                    <c:v>Tuned XGBoost
+ lynch_any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0.8909</c:v>
                </c:pt>
                <c:pt idx="1">
                  <c:v>0.8931</c:v>
                </c:pt>
                <c:pt idx="2">
                  <c:v>0.8944</c:v>
                </c:pt>
                <c:pt idx="3">
                  <c:v>0.8948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8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628"/>
                </a:solidFill>
                <a:latin typeface="Arial"/>
              </a:rPr>
              <a:t>Precision-Recall Tradeoff vs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Cancer Recall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0.10</c:v>
                  </c:pt>
                  <c:pt idx="1">
                    <c:v>0.20</c:v>
                  </c:pt>
                  <c:pt idx="2">
                    <c:v>0.24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  <c:pt idx="7">
                    <c:v>0.70</c:v>
                  </c:pt>
                  <c:pt idx="8">
                    <c:v>0.80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0.92</c:v>
                </c:pt>
                <c:pt idx="1">
                  <c:v>0.88</c:v>
                </c:pt>
                <c:pt idx="2">
                  <c:v>0.86</c:v>
                </c:pt>
                <c:pt idx="3">
                  <c:v>0.82</c:v>
                </c:pt>
                <c:pt idx="4">
                  <c:v>0.79</c:v>
                </c:pt>
                <c:pt idx="5">
                  <c:v>0.76</c:v>
                </c:pt>
                <c:pt idx="6">
                  <c:v>0.68</c:v>
                </c:pt>
                <c:pt idx="7">
                  <c:v>0.58</c:v>
                </c:pt>
                <c:pt idx="8">
                  <c:v>0.46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Cancer Precision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0.10</c:v>
                  </c:pt>
                  <c:pt idx="1">
                    <c:v>0.20</c:v>
                  </c:pt>
                  <c:pt idx="2">
                    <c:v>0.24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  <c:pt idx="7">
                    <c:v>0.70</c:v>
                  </c:pt>
                  <c:pt idx="8">
                    <c:v>0.80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0.53</c:v>
                </c:pt>
                <c:pt idx="1">
                  <c:v>0.57</c:v>
                </c:pt>
                <c:pt idx="2">
                  <c:v>0.59</c:v>
                </c:pt>
                <c:pt idx="3">
                  <c:v>0.62</c:v>
                </c:pt>
                <c:pt idx="4">
                  <c:v>0.64</c:v>
                </c:pt>
                <c:pt idx="5">
                  <c:v>0.66</c:v>
                </c:pt>
                <c:pt idx="6">
                  <c:v>0.67</c:v>
                </c:pt>
                <c:pt idx="7">
                  <c:v>0.68</c:v>
                </c:pt>
                <c:pt idx="8">
                  <c:v>0.7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0.10</c:v>
                  </c:pt>
                  <c:pt idx="1">
                    <c:v>0.20</c:v>
                  </c:pt>
                  <c:pt idx="2">
                    <c:v>0.24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  <c:pt idx="7">
                    <c:v>0.70</c:v>
                  </c:pt>
                  <c:pt idx="8">
                    <c:v>0.80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0.68</c:v>
                </c:pt>
                <c:pt idx="1">
                  <c:v>0.69</c:v>
                </c:pt>
                <c:pt idx="2">
                  <c:v>0.7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  <c:pt idx="6">
                  <c:v>0.68</c:v>
                </c:pt>
                <c:pt idx="7">
                  <c:v>0.63</c:v>
                </c:pt>
                <c:pt idx="8">
                  <c:v>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628"/>
                </a:solidFill>
                <a:latin typeface="Arial"/>
              </a:rPr>
              <a:t>Top 11 Features by SHAP Impact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family_history</c:v>
                  </c:pt>
                  <c:pt idx="1">
                    <c:v>bowel_changes</c:v>
                  </c:pt>
                  <c:pt idx="2">
                    <c:v>ast</c:v>
                  </c:pt>
                  <c:pt idx="3">
                    <c:v>wbc</c:v>
                  </c:pt>
                  <c:pt idx="4">
                    <c:v>abdominal_pain</c:v>
                  </c:pt>
                  <c:pt idx="5">
                    <c:v>platelet_count</c:v>
                  </c:pt>
                  <c:pt idx="6">
                    <c:v>obese</c:v>
                  </c:pt>
                  <c:pt idx="7">
                    <c:v>bmi</c:v>
                  </c:pt>
                  <c:pt idx="8">
                    <c:v>creatinine</c:v>
                  </c:pt>
                  <c:pt idx="9">
                    <c:v>alt</c:v>
                  </c:pt>
                  <c:pt idx="10">
                    <c:v>age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0.11</c:v>
                </c:pt>
                <c:pt idx="1">
                  <c:v>0.24</c:v>
                </c:pt>
                <c:pt idx="2">
                  <c:v>0.25</c:v>
                </c:pt>
                <c:pt idx="3">
                  <c:v>0.28</c:v>
                </c:pt>
                <c:pt idx="4">
                  <c:v>0.36</c:v>
                </c:pt>
                <c:pt idx="5">
                  <c:v>0.4</c:v>
                </c:pt>
                <c:pt idx="6">
                  <c:v>0.41</c:v>
                </c:pt>
                <c:pt idx="7">
                  <c:v>0.56</c:v>
                </c:pt>
                <c:pt idx="8">
                  <c:v>0.76</c:v>
                </c:pt>
                <c:pt idx="9">
                  <c:v>0.8</c:v>
                </c:pt>
                <c:pt idx="10">
                  <c:v>1.54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583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Colorectal Cancer Risk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Using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Genomic &amp; Clinical Data via the NIH All of Us Researcher Workbench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45720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Mohibul Islam  |  Queensborough Community College, CUNY  |  Advisor: Prof. Zeynep Akcay Ozkan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Colorectal Cancer?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cancer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645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 cases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651760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8076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if caught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85039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07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Most CRC risk tools rely on limited clinical data and miss high-risk patients.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existing model integrates genomic markers (Lynch syndrome) with comprehensive clinical, lifestyle, and socioeconomic features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large-scale EHR data from a diverse US population.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Study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All of Us Researcher Workbench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Tier — CDR v2024Q3R9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12,248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1343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Cases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31343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3,062 (25%)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4378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84378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9,186 (75%)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7413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37413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04488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0448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9044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581912"/>
            <a:ext cx="16459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5544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17556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race, ethnicity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112264"/>
            <a:ext cx="164592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0848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22860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Alcohol, smoking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642616"/>
            <a:ext cx="16459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615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28163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insurance, education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72968"/>
            <a:ext cx="16459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145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Labs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33467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platelets, ALT, creatinine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703320"/>
            <a:ext cx="164592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6758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8770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Bleeding, pain, bowel changes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233672"/>
            <a:ext cx="164592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206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44074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syndrome (MLH1/MSH2/MSH6/PMS2)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46304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Us CDR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874520"/>
            <a:ext cx="2560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05840"/>
            <a:ext cx="1463040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93392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93392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cleaning,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imputation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56432" y="1874520"/>
            <a:ext cx="2560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005840"/>
            <a:ext cx="1463040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15384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538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12464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12464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only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75504" y="1874520"/>
            <a:ext cx="2560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005840"/>
            <a:ext cx="146304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34456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445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31536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31536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94576" y="1874520"/>
            <a:ext cx="2560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1005840"/>
            <a:ext cx="1463040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53528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50608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50608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Recall,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246120"/>
            <a:ext cx="85953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319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657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SMOTE applied on training set only (never test set) to prevent data leakage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Indication bias removed: dropped 'was test ordered' flags (doctor suspicion ≠ patient biology)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Polyp history removed (98.4% cancer rate confirmed temporal leakage)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Genomic variants filtered to pathogenic/likely pathogenic only (ClinVar)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Feature: Lynch Syndrome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Lynch Syndrome?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inherited condition caused by mutations in DNA mismatch repair (MMR) genes.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genes: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MLH1, MSH2, MSH6, PMS2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have 40–80% lifetime CRC risk vs ~4% in general population.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~3% of all colorectal cancers.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960120"/>
            <a:ext cx="4389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Tables used: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cb_variant_to_person + cb_variant_attribute_genes + cb_variant_attribute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Filter: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clinical_significance_string LIKE '%pathogenic%' AND NOT LIKE '%benign%'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834640"/>
            <a:ext cx="4389120" cy="1874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926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Found in Your Cohort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3101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55080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8040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01000" y="33101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3611880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6118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lynch_any (any gene)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36118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78040" y="36118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2.68%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01000" y="36118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3941064"/>
            <a:ext cx="41148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9410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MLH1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9410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78040" y="39410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01000" y="39410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4270248"/>
            <a:ext cx="41148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2702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MSH6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42702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78040" y="42702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01000" y="42702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960120"/>
            <a:ext cx="141732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1887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0.8948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806440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0644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406640" y="960120"/>
            <a:ext cx="141732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06640" y="11887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406640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Recall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 0.24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06440" y="2697480"/>
            <a:ext cx="141732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2926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+0.39%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806440" y="3566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Gain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06440" y="3840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improvement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406640" y="2697480"/>
            <a:ext cx="141732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06640" y="2926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406640" y="3566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Gain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06640" y="3840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(79%→86%)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343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00400" y="4343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Recall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1792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Precision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863840" y="4343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Threshold Tuning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Tune the Threshold?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 = 0.50 (optimizes accuracy)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cancer screening, recall is paramount: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cancer case = missed treatment opportunity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→ extra follow-up tests (acceptable)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negative → missed cancer (unacceptable)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338328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593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Threshold: 0.24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593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Recall: 0.86  |  Precision: 0.59  |  F1: 0.70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434840" y="960120"/>
          <a:ext cx="4434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914400"/>
            <a:ext cx="3246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00584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06440" y="152704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45352" y="148132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the dominant predictor — older patients have strongly elevated risk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2331720"/>
            <a:ext cx="347472" cy="3474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45352" y="22860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&amp; creatinine (liver/kidney enzymes) carry strong signal — captured from EHR labs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313639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③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45352" y="3090672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+ obesity confirm metabolic risk pathway for CRC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06440" y="394106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④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45352" y="3895344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lynch_any ranks 30th — rare (~0.8% prevalence) but 14× enriched in cancer cases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Impact &amp; Real-World Application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A Clinical Decision Support Tool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inputs patient data → Model outputs risk score + SHAP-based explanation of top driving factors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57400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57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514600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recall catches cases missed by standard screening guidelines. Fewer missed diagnoses.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205740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057400"/>
            <a:ext cx="26517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057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514600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explain WHY the model flagged a patient — critical for physician trust and adoption.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057400"/>
            <a:ext cx="26517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057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Population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2514600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All of Us diverse cohort (50% minority). More equitable than prior genomic studies (&gt;90% European).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Limitations: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44805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design · Lynch syndrome is rare (affects avg SHAP) · Prospective validation needed before clinical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of 0.8948 with 86% cancer recall — clinically meaningful performance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7830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syndrome (lynch_any) shows 14× enrichment in cancer cases — biologically validated signal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liver enzymes (ALT), and BMI are the dominant predictors identified by SHAP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9359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5204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model to integrate germline genomic data with full clinical + socioeconomic features on All of 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5943600" cy="566928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4340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Next Steps: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34340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· Additional genomic markers · Cross-validation · Publication submission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75120" y="2834640"/>
            <a:ext cx="2103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github.com/MOHIBUL131589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Clinical Decision Support Software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8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Full-Stack App: FastAPI Backend + React/Vite Frontend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1430000"/>
            <a:ext cx="4114800" cy="31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30000"/>
            <a:ext cx="4114800" cy="38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30000"/>
            <a:ext cx="41148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Technology Stack</a:t>
            </a:r>
          </a:p>
        </p:txBody>
      </p:sp>
      <p:sp>
        <p:nvSpPr>
          <p:cNvPr id="9" name="Text 7"/>
          <p:cNvSpPr/>
          <p:nvPr/>
        </p:nvSpPr>
        <p:spPr>
          <a:xfrm>
            <a:off x="420000" y="1860000"/>
            <a:ext cx="3840000" cy="2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</a:rPr>
              <a:t>Backend  --  FastAPI (Python)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POST /predict endpoint  XGBoost 2.0.3  SHAP TreeExplainer  Returns risk score + top factors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</a:rPr>
              <a:t>Frontend  --  React + Vite + Tailwind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5-section patient form  Risk gauge  SHAP bars  PDF export  New Patient button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</a:rPr>
              <a:t>Model  --  XGBoost + SHAP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AUC 0.8948  Threshold 0.24  30 features  n=12,248 (NIH All of Us)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github.com/mohibul-07/colorectal-cancer-risk-prediction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0" y="1430000"/>
            <a:ext cx="4297680" cy="31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430000"/>
            <a:ext cx="4297680" cy="380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30000"/>
            <a:ext cx="429768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Live Software Features</a:t>
            </a:r>
          </a:p>
        </p:txBody>
      </p:sp>
      <p:sp>
        <p:nvSpPr>
          <p:cNvPr id="13" name="Shape 11"/>
          <p:cNvSpPr/>
          <p:nvPr/>
        </p:nvSpPr>
        <p:spPr>
          <a:xfrm>
            <a:off x="4663200" y="1870000"/>
            <a:ext cx="4115280" cy="630000"/>
          </a:xfrm>
          <a:prstGeom prst="rect">
            <a:avLst/>
          </a:prstGeom>
          <a:solidFill>
            <a:srgbClr val="F0FDF9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400" y="1870000"/>
            <a:ext cx="4024080" cy="6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</a:rPr>
              <a:t>Patient Input Form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Demographics  Clinical labs  Symptoms  Lifestyle  Genomic (Lynch syndrome)</a:t>
            </a:r>
          </a:p>
        </p:txBody>
      </p:sp>
      <p:sp>
        <p:nvSpPr>
          <p:cNvPr id="15" name="Shape 13"/>
          <p:cNvSpPr/>
          <p:nvPr/>
        </p:nvSpPr>
        <p:spPr>
          <a:xfrm>
            <a:off x="4663200" y="2560000"/>
            <a:ext cx="4115280" cy="630000"/>
          </a:xfrm>
          <a:prstGeom prst="rect">
            <a:avLst/>
          </a:prstGeom>
          <a:solidFill>
            <a:srgbClr val="EFF6FF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400" y="2560000"/>
            <a:ext cx="4024080" cy="6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</a:rPr>
              <a:t>Risk Score Gauge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0-100% probability  Low / Moderate / High classification  Colonoscopy referral flag</a:t>
            </a:r>
          </a:p>
        </p:txBody>
      </p:sp>
      <p:sp>
        <p:nvSpPr>
          <p:cNvPr id="17" name="Shape 15"/>
          <p:cNvSpPr/>
          <p:nvPr/>
        </p:nvSpPr>
        <p:spPr>
          <a:xfrm>
            <a:off x="4663200" y="3250000"/>
            <a:ext cx="4115280" cy="6300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400" y="3250000"/>
            <a:ext cx="4024080" cy="6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</a:rPr>
              <a:t>SHAP Explanations + PDF Export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Top 5 driving factors  Increases/decreases risk  Downloadable clinical report</a:t>
            </a:r>
          </a:p>
        </p:txBody>
      </p:sp>
      <p:sp>
        <p:nvSpPr>
          <p:cNvPr id="21" name="Shape 19"/>
          <p:cNvSpPr/>
          <p:nvPr/>
        </p:nvSpPr>
        <p:spPr>
          <a:xfrm>
            <a:off x="4663200" y="3940000"/>
            <a:ext cx="4115280" cy="58000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400" y="3940000"/>
            <a:ext cx="4024080" cy="5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</a:rPr>
              <a:t>Open Source on GitHub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Public repo  FastAPI backend  React frontend  Notebooks  SHAP plots</a:t>
            </a:r>
          </a:p>
        </p:txBody>
      </p:sp>
      <p:sp>
        <p:nvSpPr>
          <p:cNvPr id="19" name="Shape 17"/>
          <p:cNvSpPr/>
          <p:nvPr/>
        </p:nvSpPr>
        <p:spPr>
          <a:xfrm>
            <a:off x="274320" y="4700000"/>
            <a:ext cx="8595360" cy="43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0000"/>
            <a:ext cx="822960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</a:rPr>
              <a:t>Research tool only -- not for clinical diagnosis  Queensborough Community College, CUNY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Colorectal Cancer Risk Prediction Using Machine Learning</dc:title>
  <dc:subject>PptxGenJS Presentation</dc:subject>
  <dc:creator>PptxGenJS</dc:creator>
  <cp:lastModifiedBy>PptxGenJS</cp:lastModifiedBy>
  <cp:revision>1</cp:revision>
  <dcterms:created xsi:type="dcterms:W3CDTF">2026-03-21T08:32:19Z</dcterms:created>
  <dcterms:modified xsi:type="dcterms:W3CDTF">2026-03-21T08:32:19Z</dcterms:modified>
</cp:coreProperties>
</file>